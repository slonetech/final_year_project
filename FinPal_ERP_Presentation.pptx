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I'm Gordon, and today I'm presenting FinPal ERP System, a robust financial and operational management platform I developed specifically for Kenyan SMEs. Thank you to my lecturer for the academic evaluation and to our potential investors for joining.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Kenyan small businesses face massive operational blind spots. They run on spreadsheets or paper, meaning invoices get lost, payments are forgotten, and KRA compliance becomes a nightmare. Without real-time data, business owners are making critical decisions in the dark.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FinPal is the automated backbone for these businesses. It brings all core operations into one seamless web platform. We stripped away the bloat of traditional ERPs and focused on exactly what Kenyan SMEs need: localized currency, automated tax compliance, and cloud mobility without massive IT overheads.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timing is perfect. There are over 1.5 million SMEs in Kenya trying to digitize post-COVID. While enterprises use Sage or SAP, SMEs find them too expensive and complex. FinPal fits perfectly into this gap, with a roadmap perfectly aligned to the B2B M-Pesa ecosystem.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technical standpoint, this is a production-ready modern stack. We aggressively leverage Next.js App Router and Server Actions. This means no raw API routes are exposed, enhancing security. The database relies tightly on PostgreSQL with Row Level Security, essential for multi-tenant SaaS scaling.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core modules: The Dashboard instantly surfaces financial health. Our Sales and Invoicing modules handle complex multi-line arithmetic safely without risking UI rendering deadlocks. Everything flows seamlessly down to a strictly defined Chart of Accounts.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supply chain, the Purchase Orders module pairs cleanly with the Payments Engine. The system actively offsets payments against invoices using FIFO logic. Meanwhile, the inventory module constantly observes turnover, alerting managers before stockouts occur.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is the true test of an ERP. FinPal generates the big three: P&amp;L, Balance Sheet, and Cash Flow in real-time, plus Trial Balance and Aging reports. Because every invoice generates an automatic journal entry behind the scenes, these reports are perfectly balanced without requiring accountants to manually key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matters. FinPal isn't a generic global software patched for Kenya. The settings are pre-seeded with complex withholding tax rules precisely aligned with KRA tax codes out-of-the-box, saving users hours of configuration and preventing legal penalties.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the DB is bulletproof. I've maintained strict schema evolution via 18 pure SQL migrations. The single greatest technical feature is the trigger framework—when a user issues an invoice, PostgreSQL implicitly drafts the double-entry journal records. Human error is removed from the equation.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not an afterthought. Moving away from standard REST APIs, FinPal utilizes React Experimental Server Actions meaning backend RPCs happen securely. Row Level Security guarantees even if querying endpoints are bypassed, a user cannot fetch another company's records.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Commercially, we deploy a standard Web SaaS tier. Because the infrastructure uses serverless edge functions and Postgres, the overhead per user is pennies. Recurring subscriptions will be highly profitable once customer acquisition reaches a modest threshold.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switch to us? We beat legacy giants like Sage on usability and price, we beat QuickBooks on fast local context, and we beat spreadsheets by eliminating mathematical chaos. It's built for 2026, incredibly fast, and very easy to learn.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is done, but the vision is larger. The immediate technical roadmap points toward integrating Safaricom's Daraja API for one-click invoice payment, developing a companion mobile app for field operations, and launching an integrated payroll system for complete unified business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FinPal is academically comprehensive but aggressively commercial. My technical implementation proves it can handle the serious weight of double-entry accounting cleanly. To the investors: the product is ready. We are looking for seed capital to light the marketing fire and finalize Daraja API endpoints. Let's dive into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FinPal ERP System</a:t>
            </a:r>
          </a:p>
        </p:txBody>
      </p:sp>
      <p:sp>
        <p:nvSpPr>
          <p:cNvPr id="3" name="Subtitle 2"/>
          <p:cNvSpPr>
            <a:spLocks noGrp="1"/>
          </p:cNvSpPr>
          <p:nvPr>
            <p:ph type="subTitle" idx="1"/>
          </p:nvPr>
        </p:nvSpPr>
        <p:spPr/>
        <p:txBody>
          <a:bodyPr/>
          <a:lstStyle/>
          <a:p>
            <a:r>
              <a:t>Modern Financial &amp; Operations Management for Kenyan SMEs</a:t>
            </a:r>
          </a:p>
          <a:p/>
          <a:p>
            <a:r>
              <a:t>Gordon Slone</a:t>
            </a:r>
          </a:p>
          <a:p>
            <a: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SME Operations Today</a:t>
            </a:r>
          </a:p>
        </p:txBody>
      </p:sp>
      <p:sp>
        <p:nvSpPr>
          <p:cNvPr id="3" name="Content Placeholder 2"/>
          <p:cNvSpPr>
            <a:spLocks noGrp="1"/>
          </p:cNvSpPr>
          <p:nvPr>
            <p:ph idx="1"/>
          </p:nvPr>
        </p:nvSpPr>
        <p:spPr/>
        <p:txBody>
          <a:bodyPr/>
          <a:lstStyle/>
          <a:p>
            <a:r>
              <a:t>• Manual Bookkeeping: High error rates relying on spreadsheets and paper.</a:t>
            </a:r>
          </a:p>
          <a:p>
            <a:r>
              <a:t>• Lost Invoices: Delayed payments and terrible cash flow tracking.</a:t>
            </a:r>
          </a:p>
          <a:p>
            <a:r>
              <a:t>• Compliance Risks: Navigating KRA tax laws (VAT &amp; Withholding taxes) manually.</a:t>
            </a:r>
          </a:p>
          <a:p>
            <a:r>
              <a:t>• Poor Decision Making: Complete lack of real-time financial visibility.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Solution: FinPal ERP</a:t>
            </a:r>
          </a:p>
        </p:txBody>
      </p:sp>
      <p:sp>
        <p:nvSpPr>
          <p:cNvPr id="3" name="Content Placeholder 2"/>
          <p:cNvSpPr>
            <a:spLocks noGrp="1"/>
          </p:cNvSpPr>
          <p:nvPr>
            <p:ph idx="1"/>
          </p:nvPr>
        </p:nvSpPr>
        <p:spPr/>
        <p:txBody>
          <a:bodyPr/>
          <a:lstStyle/>
          <a:p>
            <a:r>
              <a:t>• All-In-One Platform: Unifies finance, sales, purchasing, and inventory.</a:t>
            </a:r>
          </a:p>
          <a:p>
            <a:r>
              <a:t>• Cloud Native: Web-based, secure, and accessible from any device.</a:t>
            </a:r>
          </a:p>
          <a:p>
            <a:r>
              <a:t>• Built for Kenya: Localized features including Ksh, standard 16% VAT, and withholding taxes.</a:t>
            </a:r>
          </a:p>
          <a:p>
            <a:r>
              <a:t>• Automated Accounting: Triggers generate double-entry journals implicitly.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Opportunity</a:t>
            </a:r>
          </a:p>
        </p:txBody>
      </p:sp>
      <p:sp>
        <p:nvSpPr>
          <p:cNvPr id="3" name="Content Placeholder 2"/>
          <p:cNvSpPr>
            <a:spLocks noGrp="1"/>
          </p:cNvSpPr>
          <p:nvPr>
            <p:ph idx="1"/>
          </p:nvPr>
        </p:nvSpPr>
        <p:spPr/>
        <p:txBody>
          <a:bodyPr/>
          <a:lstStyle/>
          <a:p>
            <a:r>
              <a:t>• Target Size: Over 1.5 million SMEs in Kenya forming the backbone of the economy.</a:t>
            </a:r>
          </a:p>
          <a:p>
            <a:r>
              <a:t>• Digitization Push: Increasing pressure for formalization and e-TIMS readiness.</a:t>
            </a:r>
          </a:p>
          <a:p>
            <a:r>
              <a:t>• The M-Pesa Factor: Pervasive mobile money ecosystem requiring better B2B integration.</a:t>
            </a:r>
          </a:p>
          <a:p>
            <a:r>
              <a:t>• Under-served Tier: QuickBooks/Sage are often too expensive, complex, or lack deep local tuning.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r>
              <a:t>• Frontend: Next.js 14 (App Router), React Query, Tailwind CSS, shadcn/ui.</a:t>
            </a:r>
          </a:p>
          <a:p>
            <a:r>
              <a:t>• Backend &amp; Database: Supabase (PostgreSQL) hosted in the cloud.</a:t>
            </a:r>
          </a:p>
          <a:p>
            <a:r>
              <a:t>• API Layer: Server Actions logic ensuring no direct client DB access.</a:t>
            </a:r>
          </a:p>
          <a:p>
            <a:r>
              <a:t>• Automation: Embedded PostgreSQL Triggers for real-time data synchronization.</a:t>
            </a:r>
          </a:p>
          <a:p>
            <a:r>
              <a:t>• Security: Row Level Security (RLS) guaranteeing strict data isolation.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Modules: Finance &amp; Sales Operations</a:t>
            </a:r>
          </a:p>
        </p:txBody>
      </p:sp>
      <p:sp>
        <p:nvSpPr>
          <p:cNvPr id="3" name="Content Placeholder 2"/>
          <p:cNvSpPr>
            <a:spLocks noGrp="1"/>
          </p:cNvSpPr>
          <p:nvPr>
            <p:ph idx="1"/>
          </p:nvPr>
        </p:nvSpPr>
        <p:spPr/>
        <p:txBody>
          <a:bodyPr/>
          <a:lstStyle/>
          <a:p>
            <a:r>
              <a:t>• Dashboard: Real-time dynamic KPIs (revenue, expenses, alerts).</a:t>
            </a:r>
          </a:p>
          <a:p>
            <a:r>
              <a:t>• Sales Orders: Multi-line orders with real-time VAT (16%) arithmetic.</a:t>
            </a:r>
          </a:p>
          <a:p>
            <a:r>
              <a:t>• Invoicing: Conversion from quotes; automated Accounts Receivable tracking.</a:t>
            </a:r>
          </a:p>
          <a:p>
            <a:r>
              <a:t>• Chart of Accounts: Full double-entry generic ledger backing every 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Modules: Purchasing &amp; Inventory</a:t>
            </a:r>
          </a:p>
        </p:txBody>
      </p:sp>
      <p:sp>
        <p:nvSpPr>
          <p:cNvPr id="3" name="Content Placeholder 2"/>
          <p:cNvSpPr>
            <a:spLocks noGrp="1"/>
          </p:cNvSpPr>
          <p:nvPr>
            <p:ph idx="1"/>
          </p:nvPr>
        </p:nvSpPr>
        <p:spPr/>
        <p:txBody>
          <a:bodyPr/>
          <a:lstStyle/>
          <a:p>
            <a:r>
              <a:t>• Purchase Orders: Managed PO lifecycle with supplier status tracking.</a:t>
            </a:r>
          </a:p>
          <a:p>
            <a:r>
              <a:t>• Payments Engine: Records both Accounts Payable and Receivable.</a:t>
            </a:r>
          </a:p>
          <a:p>
            <a:r>
              <a:t>• Offset Logic: Intelligent FIFO processing for aging payables.</a:t>
            </a:r>
          </a:p>
          <a:p>
            <a:r>
              <a:t>• Inventory Management: Live stock counts and automated low-stock threshold alerts.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Reporting Suite</a:t>
            </a:r>
          </a:p>
        </p:txBody>
      </p:sp>
      <p:sp>
        <p:nvSpPr>
          <p:cNvPr id="3" name="Content Placeholder 2"/>
          <p:cNvSpPr>
            <a:spLocks noGrp="1"/>
          </p:cNvSpPr>
          <p:nvPr>
            <p:ph idx="1"/>
          </p:nvPr>
        </p:nvSpPr>
        <p:spPr/>
        <p:txBody>
          <a:bodyPr/>
          <a:lstStyle/>
          <a:p>
            <a:r>
              <a:t>• 6 Fully Functional Real-Time Reports:</a:t>
            </a:r>
          </a:p>
          <a:p>
            <a:r>
              <a:t>    - Profit &amp; Loss Statement (P&amp;L)</a:t>
            </a:r>
          </a:p>
          <a:p>
            <a:r>
              <a:t>    - Balance Sheet</a:t>
            </a:r>
          </a:p>
          <a:p>
            <a:r>
              <a:t>    - Cash Flow Statement</a:t>
            </a:r>
          </a:p>
          <a:p>
            <a:r>
              <a:t>    - Trial Balance</a:t>
            </a:r>
          </a:p>
          <a:p>
            <a:r>
              <a:t>    - Aged Receivables &amp; Aged Payables</a:t>
            </a:r>
          </a:p>
          <a:p>
            <a:r>
              <a:t>• Built on double-entry principles directly querying live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Built specifically for Kenya</a:t>
            </a:r>
          </a:p>
        </p:txBody>
      </p:sp>
      <p:sp>
        <p:nvSpPr>
          <p:cNvPr id="3" name="Content Placeholder 2"/>
          <p:cNvSpPr>
            <a:spLocks noGrp="1"/>
          </p:cNvSpPr>
          <p:nvPr>
            <p:ph idx="1"/>
          </p:nvPr>
        </p:nvSpPr>
        <p:spPr/>
        <p:txBody>
          <a:bodyPr/>
          <a:lstStyle/>
          <a:p>
            <a:r>
              <a:t>• Currency: Enforced Ksh tracking system-wide.</a:t>
            </a:r>
          </a:p>
          <a:p>
            <a:r>
              <a:t>• VAT: Preconfigured for 16% standard rate arithmetic.</a:t>
            </a:r>
          </a:p>
          <a:p>
            <a:r>
              <a:t>• Withholding Taxes: </a:t>
            </a:r>
          </a:p>
          <a:p>
            <a:r>
              <a:t>    - Professional Fees: 5%</a:t>
            </a:r>
          </a:p>
          <a:p>
            <a:r>
              <a:t>    - Rent: 10%</a:t>
            </a:r>
          </a:p>
          <a:p>
            <a:r>
              <a:t>    - Supplies: 3%</a:t>
            </a:r>
          </a:p>
          <a:p>
            <a:r>
              <a:t>    - Commissions: 2%</a:t>
            </a:r>
          </a:p>
          <a:p>
            <a:r>
              <a:t>• Payment Handling: Specific tracking for M-Pesa receipts alongside banking.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Database Engineering</a:t>
            </a:r>
          </a:p>
        </p:txBody>
      </p:sp>
      <p:sp>
        <p:nvSpPr>
          <p:cNvPr id="3" name="Content Placeholder 2"/>
          <p:cNvSpPr>
            <a:spLocks noGrp="1"/>
          </p:cNvSpPr>
          <p:nvPr>
            <p:ph idx="1"/>
          </p:nvPr>
        </p:nvSpPr>
        <p:spPr/>
        <p:txBody>
          <a:bodyPr/>
          <a:lstStyle/>
          <a:p>
            <a:r>
              <a:t>• Supabase PostgreSQL backend ensuring ACID compliance.</a:t>
            </a:r>
          </a:p>
          <a:p>
            <a:r>
              <a:t>• 18 Sequential Migrations establishing exact schema evolution.</a:t>
            </a:r>
          </a:p>
          <a:p>
            <a:r>
              <a:t>• Singleton Patters: Settings (Tax, Invoice, Company) persist correctly.</a:t>
            </a:r>
          </a:p>
          <a:p>
            <a:r>
              <a:t>• Triggers: Implicit creation of Journal Entries upon invoice/payment events ensuring ledger integrity.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&amp; Data Privacy</a:t>
            </a:r>
          </a:p>
        </p:txBody>
      </p:sp>
      <p:sp>
        <p:nvSpPr>
          <p:cNvPr id="3" name="Content Placeholder 2"/>
          <p:cNvSpPr>
            <a:spLocks noGrp="1"/>
          </p:cNvSpPr>
          <p:nvPr>
            <p:ph idx="1"/>
          </p:nvPr>
        </p:nvSpPr>
        <p:spPr/>
        <p:txBody>
          <a:bodyPr/>
          <a:lstStyle/>
          <a:p>
            <a:r>
              <a:t>• Authentication: Managed by Supabase Auth (JWT securely exchanged).</a:t>
            </a:r>
          </a:p>
          <a:p>
            <a:r>
              <a:t>• Server-Side Execution: Next.js Server Actions keep business logic off the browser.</a:t>
            </a:r>
          </a:p>
          <a:p>
            <a:r>
              <a:t>• Row Level Security (RLS): Database-level safety preventing cross-tenant leakage.</a:t>
            </a:r>
          </a:p>
          <a:p>
            <a:r>
              <a:t>• Validation: Zod schemas protecting against corrupted payloads.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Commercial Plan: Monetizing FinPal</a:t>
            </a:r>
          </a:p>
        </p:txBody>
      </p:sp>
      <p:sp>
        <p:nvSpPr>
          <p:cNvPr id="3" name="Content Placeholder 2"/>
          <p:cNvSpPr>
            <a:spLocks noGrp="1"/>
          </p:cNvSpPr>
          <p:nvPr>
            <p:ph idx="1"/>
          </p:nvPr>
        </p:nvSpPr>
        <p:spPr/>
        <p:txBody>
          <a:bodyPr/>
          <a:lstStyle/>
          <a:p>
            <a:r>
              <a:t>• Software as a Service (SaaS) Subscription Model</a:t>
            </a:r>
          </a:p>
          <a:p>
            <a:r>
              <a:t>• Tiered Access:</a:t>
            </a:r>
          </a:p>
          <a:p>
            <a:r>
              <a:t>    - Starter: Basic Invoicing &amp; Expenses</a:t>
            </a:r>
          </a:p>
          <a:p>
            <a:r>
              <a:t>    - Professional: Inventory, POs, Full Financial suites</a:t>
            </a:r>
          </a:p>
          <a:p>
            <a:r>
              <a:t>    - Enterprise: Multi-branch consolidation</a:t>
            </a:r>
          </a:p>
          <a:p>
            <a:r>
              <a:t>• Scalable architecture ensures extremely low marginal cost per new user.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FinPal wins</a:t>
            </a:r>
          </a:p>
        </p:txBody>
      </p:sp>
      <p:sp>
        <p:nvSpPr>
          <p:cNvPr id="3" name="Content Placeholder 2"/>
          <p:cNvSpPr>
            <a:spLocks noGrp="1"/>
          </p:cNvSpPr>
          <p:nvPr>
            <p:ph idx="1"/>
          </p:nvPr>
        </p:nvSpPr>
        <p:spPr/>
        <p:txBody>
          <a:bodyPr/>
          <a:lstStyle/>
          <a:p>
            <a:r>
              <a:t>• vs. QuickBooks: Cheaper, modern UX, deeply localized to Kenya out-of-the-box.</a:t>
            </a:r>
          </a:p>
          <a:p>
            <a:r>
              <a:t>• vs. Sage/SAP: Accessible learning curve, entirely self-serve.</a:t>
            </a:r>
          </a:p>
          <a:p>
            <a:r>
              <a:t>• vs. Spreadsheets: Automated data integrity, reporting logic, and no mathematical formula breaking.</a:t>
            </a:r>
          </a:p>
          <a:p>
            <a:r>
              <a:t>• Engineering Speed: Next.js and Supabase allow rapid feature iteration matching exactly what locals need.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Expansion Roadmap</a:t>
            </a:r>
          </a:p>
        </p:txBody>
      </p:sp>
      <p:sp>
        <p:nvSpPr>
          <p:cNvPr id="3" name="Content Placeholder 2"/>
          <p:cNvSpPr>
            <a:spLocks noGrp="1"/>
          </p:cNvSpPr>
          <p:nvPr>
            <p:ph idx="1"/>
          </p:nvPr>
        </p:nvSpPr>
        <p:spPr/>
        <p:txBody>
          <a:bodyPr/>
          <a:lstStyle/>
          <a:p>
            <a:r>
              <a:t>• Phase 1 (Complete): Core ERP web platform launch</a:t>
            </a:r>
          </a:p>
          <a:p>
            <a:r>
              <a:t>• Phase 2: Native Android/iOS companion application for field agents.</a:t>
            </a:r>
          </a:p>
          <a:p>
            <a:r>
              <a:t>• Phase 3: Direct M-Pesa Daraja API Integration (Auto-settling generated invoices).</a:t>
            </a:r>
          </a:p>
          <a:p>
            <a:r>
              <a:t>• Phase 4: Full Multi-Currency handling (USD, GBP, EUR).</a:t>
            </a:r>
          </a:p>
          <a:p>
            <a:r>
              <a:t>• Phase 5: HR &amp; Localized Payroll (KRA PAYE, NSSF, NHIF reporting).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 Academic Goal: Demonstrating comprehensive full-stack expertise combining strict financial logic with modern UX frameworks.</a:t>
            </a:r>
          </a:p>
          <a:p>
            <a:r>
              <a:t>• Investment Ask: Looking for seed capital to fund initial marketing campaigns and Daraja API vendor compliance.</a:t>
            </a:r>
          </a:p>
          <a:p>
            <a:r>
              <a:t>• Check out the Live Demo to see the engine in action.</a:t>
            </a:r>
          </a:p>
          <a:p>
            <a:r>
              <a:t>• Thank you!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